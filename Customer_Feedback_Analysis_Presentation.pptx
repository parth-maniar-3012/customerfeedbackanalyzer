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embeddedFontLst>
    <p:embeddedFont>
      <p:font typeface="Economica" panose="020B0604020202020204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j4j1XN029VxyZeIpL+OBy1k8EA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2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dbdd1e1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dbdd1e1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6bcb803f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d6bcb803f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6bcb803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d6bcb803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bcb803f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d6bcb803f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6be8c33f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d6be8c33fb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dd249a56a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1dd249a56a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dd249a56a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dd249a56a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dd249a56a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1dd249a56a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6bcb803f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02122"/>
                </a:solidFill>
                <a:highlight>
                  <a:srgbClr val="FFFFFF"/>
                </a:highlight>
              </a:rPr>
              <a:t>Bidirectional encoder representations from transformers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 (</a:t>
            </a:r>
            <a:r>
              <a:rPr lang="en-US" sz="1200" b="1">
                <a:solidFill>
                  <a:srgbClr val="202122"/>
                </a:solidFill>
                <a:highlight>
                  <a:srgbClr val="FFFFFF"/>
                </a:highlight>
              </a:rPr>
              <a:t>BERT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)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175" name="Google Shape;175;g2d6bcb803f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1dbdd1e1a3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1dbdd1e1a3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1dd249a56a_0_18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g31dd249a56a_0_18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g31dd249a56a_0_18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g31dd249a56a_0_18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g31dd249a56a_0_18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1dd249a56a_0_188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g31dd249a56a_0_188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g31dd249a56a_0_188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31dd249a56a_0_18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1dd249a56a_0_193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g31dd249a56a_0_19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1dd249a56a_0_193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g31dd249a56a_0_19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1dd249a56a_0_19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1dd249a56a_0_19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g31dd249a56a_0_198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1dd249a56a_0_19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1dd249a56a_0_20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1dd249a56a_0_20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1dd249a56a_0_206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g31dd249a56a_0_206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31dd249a56a_0_20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1dd249a56a_0_210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g31dd249a56a_0_210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1dd249a56a_0_2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1dd249a56a_0_214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g31dd249a56a_0_214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g31dd249a56a_0_214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g31dd249a56a_0_214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g31dd249a56a_0_214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g31dd249a56a_0_2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1dd249a56a_0_221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g31dd249a56a_0_2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1dd249a56a_0_22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31dd249a56a_0_224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g31dd249a56a_0_224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g31dd249a56a_0_2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dd249a56a_0_22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dd249a56a_0_2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g31dd249a56a_0_2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g31dd249a56a_0_2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1dd249a56a_0_2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g31dd249a56a_0_2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1dd249a56a_0_17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g31dd249a56a_0_17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g31dd249a56a_0_17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what-is-sentiment-analysis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kaggle.com/datasets/datafiniti/consumer-reviews-of-amazon-products" TargetMode="External"/><Relationship Id="rId4" Type="http://schemas.openxmlformats.org/officeDocument/2006/relationships/hyperlink" Target="https://www.ibm.com/topics/sentiment-analys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>
            <a:spLocks noGrp="1"/>
          </p:cNvSpPr>
          <p:nvPr>
            <p:ph type="ctrTitle"/>
          </p:nvPr>
        </p:nvSpPr>
        <p:spPr>
          <a:xfrm>
            <a:off x="3044700" y="1282700"/>
            <a:ext cx="3054600" cy="24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Feedback Analysis for E-commerce</a:t>
            </a:r>
            <a:endParaRPr/>
          </a:p>
        </p:txBody>
      </p:sp>
      <p:sp>
        <p:nvSpPr>
          <p:cNvPr id="69" name="Google Shape;69;p1"/>
          <p:cNvSpPr txBox="1">
            <a:spLocks noGrp="1"/>
          </p:cNvSpPr>
          <p:nvPr>
            <p:ph type="subTitle" idx="1"/>
          </p:nvPr>
        </p:nvSpPr>
        <p:spPr>
          <a:xfrm>
            <a:off x="3044700" y="3977658"/>
            <a:ext cx="3054600" cy="17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52380"/>
              <a:buNone/>
            </a:pPr>
            <a:r>
              <a:rPr lang="en-US" dirty="0">
                <a:solidFill>
                  <a:srgbClr val="888888"/>
                </a:solidFill>
              </a:rPr>
              <a:t>A comprehensive project analyzing sentiment and uncovering customer review themes</a:t>
            </a:r>
            <a:endParaRPr dirty="0">
              <a:solidFill>
                <a:srgbClr val="888888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52380"/>
              <a:buNone/>
            </a:pPr>
            <a:endParaRPr dirty="0">
              <a:solidFill>
                <a:srgbClr val="888888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52380"/>
              <a:buNone/>
            </a:pPr>
            <a:endParaRPr dirty="0">
              <a:solidFill>
                <a:srgbClr val="888888"/>
              </a:solidFill>
            </a:endParaRPr>
          </a:p>
          <a:p>
            <a:pPr marL="457200" lvl="0" indent="-351948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Char char="-"/>
            </a:pPr>
            <a:r>
              <a:rPr lang="en-US">
                <a:solidFill>
                  <a:srgbClr val="888888"/>
                </a:solidFill>
              </a:rPr>
              <a:t>Parth Maniar</a:t>
            </a:r>
            <a:endParaRPr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Project Objective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3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Analyze customer reviews to extract sentiment and identify themes.</a:t>
            </a:r>
            <a:endParaRPr sz="2400"/>
          </a:p>
          <a:p>
            <a:pPr marL="342900" lvl="0" indent="-292100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Provide actionable insights for e-commerce improvement.</a:t>
            </a:r>
            <a:endParaRPr sz="2400"/>
          </a:p>
          <a:p>
            <a:pPr marL="342900" lvl="0" indent="-292100" algn="l" rtl="0">
              <a:lnSpc>
                <a:spcPct val="105000"/>
              </a:lnSpc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Focus on sentiment classification and topic modeling.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dbdd1e1a3_0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latin typeface="Open Sans"/>
                <a:ea typeface="Open Sans"/>
                <a:cs typeface="Open Sans"/>
                <a:sym typeface="Open Sans"/>
              </a:rPr>
              <a:t>Statement of the problem : </a:t>
            </a:r>
            <a:endParaRPr sz="30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g31dbdd1e1a3_0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419600" cy="48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800">
              <a:solidFill>
                <a:srgbClr val="2D3B4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rgbClr val="2D3B45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2D3B45"/>
                </a:solidFill>
                <a:highlight>
                  <a:srgbClr val="FFFFFF"/>
                </a:highlight>
              </a:rPr>
              <a:t>E-commerce platforms gather extensive customer feedback.</a:t>
            </a:r>
            <a:endParaRPr sz="21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2D3B45"/>
                </a:solidFill>
                <a:highlight>
                  <a:srgbClr val="FFFFFF"/>
                </a:highlight>
              </a:rPr>
              <a:t>Insights from this unstructured data are essential for enhancing customer satisfaction and business strategies.</a:t>
            </a:r>
            <a:endParaRPr sz="21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2D3B45"/>
                </a:solidFill>
                <a:highlight>
                  <a:srgbClr val="FFFFFF"/>
                </a:highlight>
              </a:rPr>
              <a:t>Challenges: Complexity of textual data analysis.</a:t>
            </a:r>
            <a:endParaRPr sz="21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rgbClr val="2D3B45"/>
              </a:solidFill>
              <a:highlight>
                <a:srgbClr val="FFFFFF"/>
              </a:highlight>
            </a:endParaRPr>
          </a:p>
        </p:txBody>
      </p:sp>
      <p:pic>
        <p:nvPicPr>
          <p:cNvPr id="82" name="Google Shape;82;g31dbdd1e1a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0" y="1874875"/>
            <a:ext cx="3302000" cy="37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d6bcb803ff_0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latin typeface="Open Sans"/>
                <a:ea typeface="Open Sans"/>
                <a:cs typeface="Open Sans"/>
                <a:sym typeface="Open Sans"/>
              </a:rPr>
              <a:t>Why People Should Care</a:t>
            </a:r>
            <a:endParaRPr sz="37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g2d6bcb803ff_0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21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404812" algn="l" rtl="0">
              <a:spcBef>
                <a:spcPts val="1200"/>
              </a:spcBef>
              <a:spcAft>
                <a:spcPts val="0"/>
              </a:spcAft>
              <a:buSzPct val="100000"/>
              <a:buChar char="➔"/>
            </a:pPr>
            <a:r>
              <a:rPr lang="en-US" sz="3000"/>
              <a:t>Timely analysis of feedback improves</a:t>
            </a:r>
            <a:endParaRPr sz="3000"/>
          </a:p>
          <a:p>
            <a:pPr marL="914400" lvl="1" indent="-404812" algn="l" rtl="0">
              <a:spcBef>
                <a:spcPts val="0"/>
              </a:spcBef>
              <a:spcAft>
                <a:spcPts val="0"/>
              </a:spcAft>
              <a:buSzPct val="100000"/>
              <a:buChar char="◆"/>
            </a:pPr>
            <a:r>
              <a:rPr lang="en-US" sz="3000"/>
              <a:t>    Customer satisfaction</a:t>
            </a:r>
            <a:endParaRPr sz="3000"/>
          </a:p>
          <a:p>
            <a:pPr marL="914400" lvl="1" indent="-404812" algn="l" rtl="0">
              <a:spcBef>
                <a:spcPts val="0"/>
              </a:spcBef>
              <a:spcAft>
                <a:spcPts val="0"/>
              </a:spcAft>
              <a:buSzPct val="100000"/>
              <a:buChar char="◆"/>
            </a:pPr>
            <a:r>
              <a:rPr lang="en-US" sz="3000"/>
              <a:t> 	Enhances product quality</a:t>
            </a:r>
            <a:endParaRPr sz="3000"/>
          </a:p>
          <a:p>
            <a:pPr marL="914400" lvl="1" indent="-404812" algn="l" rtl="0">
              <a:spcBef>
                <a:spcPts val="0"/>
              </a:spcBef>
              <a:spcAft>
                <a:spcPts val="0"/>
              </a:spcAft>
              <a:buSzPct val="100000"/>
              <a:buChar char="◆"/>
            </a:pPr>
            <a:r>
              <a:rPr lang="en-US" sz="3000"/>
              <a:t>	Boosts revenue. </a:t>
            </a:r>
            <a:endParaRPr sz="3000"/>
          </a:p>
          <a:p>
            <a:pPr marL="13716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000"/>
          </a:p>
          <a:p>
            <a:pPr marL="457200" lvl="0" indent="-404812" algn="l" rtl="0">
              <a:spcBef>
                <a:spcPts val="1200"/>
              </a:spcBef>
              <a:spcAft>
                <a:spcPts val="0"/>
              </a:spcAft>
              <a:buSzPct val="100000"/>
              <a:buChar char="➔"/>
            </a:pPr>
            <a:r>
              <a:rPr lang="en-US" sz="3000"/>
              <a:t>Neglecting feedback risks losing customers to competitors and damages brand reputation.</a:t>
            </a:r>
            <a:endParaRPr sz="3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Dataset Overview</a:t>
            </a:r>
            <a:endParaRPr sz="30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75000" cy="47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1242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 b="1">
                <a:solidFill>
                  <a:schemeClr val="dk1"/>
                </a:solidFill>
              </a:rPr>
              <a:t>Dataset</a:t>
            </a:r>
            <a:r>
              <a:rPr lang="en-US" sz="3200">
                <a:solidFill>
                  <a:schemeClr val="dk1"/>
                </a:solidFill>
              </a:rPr>
              <a:t>: Amazon customer reviews</a:t>
            </a:r>
            <a:endParaRPr/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 b="1">
                <a:solidFill>
                  <a:schemeClr val="dk1"/>
                </a:solidFill>
              </a:rPr>
              <a:t>Total records</a:t>
            </a:r>
            <a:r>
              <a:rPr lang="en-US" sz="3200">
                <a:solidFill>
                  <a:schemeClr val="dk1"/>
                </a:solidFill>
              </a:rPr>
              <a:t>: 34,660</a:t>
            </a:r>
            <a:endParaRPr/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 b="1">
                <a:solidFill>
                  <a:schemeClr val="dk1"/>
                </a:solidFill>
              </a:rPr>
              <a:t>Key columns</a:t>
            </a:r>
            <a:r>
              <a:rPr lang="en-US" sz="3200">
                <a:solidFill>
                  <a:schemeClr val="dk1"/>
                </a:solidFill>
              </a:rPr>
              <a:t>: 'reviews.text', 'reviews.rating'</a:t>
            </a:r>
            <a:endParaRPr/>
          </a:p>
          <a:p>
            <a:pPr marL="342900" lvl="0" indent="-312420" algn="l" rtl="0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 b="1">
                <a:solidFill>
                  <a:schemeClr val="dk1"/>
                </a:solidFill>
              </a:rPr>
              <a:t>Data preprocessing:</a:t>
            </a:r>
            <a:r>
              <a:rPr lang="en-US" sz="3200">
                <a:solidFill>
                  <a:schemeClr val="dk1"/>
                </a:solidFill>
              </a:rPr>
              <a:t> Cleaning, tokenization, lemmatization.</a:t>
            </a:r>
            <a:endParaRPr/>
          </a:p>
        </p:txBody>
      </p:sp>
      <p:pic>
        <p:nvPicPr>
          <p:cNvPr id="95" name="Google Shape;9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800" y="1600200"/>
            <a:ext cx="397500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6bcb803ff_0_0"/>
          <p:cNvSpPr txBox="1">
            <a:spLocks noGrp="1"/>
          </p:cNvSpPr>
          <p:nvPr>
            <p:ph type="title"/>
          </p:nvPr>
        </p:nvSpPr>
        <p:spPr>
          <a:xfrm>
            <a:off x="457200" y="274646"/>
            <a:ext cx="8229600" cy="75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latin typeface="Open Sans"/>
                <a:ea typeface="Open Sans"/>
                <a:cs typeface="Open Sans"/>
                <a:sym typeface="Open Sans"/>
              </a:rPr>
              <a:t>data file </a:t>
            </a:r>
            <a:endParaRPr sz="30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g2d6bcb803ff_0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512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2" name="Google Shape;102;g2d6bcb803f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7650"/>
            <a:ext cx="4648199" cy="470865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2d6bcb803ff_0_0"/>
          <p:cNvSpPr txBox="1"/>
          <p:nvPr/>
        </p:nvSpPr>
        <p:spPr>
          <a:xfrm>
            <a:off x="5270500" y="1447800"/>
            <a:ext cx="3213000" cy="47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pen Sans"/>
              <a:buChar char="-"/>
            </a:pPr>
            <a:r>
              <a:rPr lang="en-US" sz="2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Contains different data from datafile.</a:t>
            </a:r>
            <a:endParaRPr sz="2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pen Sans"/>
              <a:buChar char="-"/>
            </a:pPr>
            <a:r>
              <a:rPr lang="en-US" sz="2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Import columns are </a:t>
            </a:r>
            <a:endParaRPr sz="2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	Review </a:t>
            </a:r>
            <a:endParaRPr sz="2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	Rating </a:t>
            </a:r>
            <a:endParaRPr sz="2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Preprocessing</a:t>
            </a:r>
            <a:endParaRPr sz="30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543800" cy="47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Removed null values.</a:t>
            </a:r>
            <a:endParaRPr sz="2400"/>
          </a:p>
          <a:p>
            <a:pPr marL="342900" lvl="0" indent="-2921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Tokenized and lemmatized text.</a:t>
            </a:r>
            <a:endParaRPr sz="2400"/>
          </a:p>
          <a:p>
            <a:pPr marL="342900" lvl="0" indent="-2921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Removed stopwords and special characters.</a:t>
            </a:r>
            <a:endParaRPr sz="2400"/>
          </a:p>
          <a:p>
            <a:pPr marL="342900" lvl="0" indent="-292100" algn="l" rtl="0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Created a 'cleaned_reviews' column.</a:t>
            </a:r>
            <a:endParaRPr sz="2400"/>
          </a:p>
        </p:txBody>
      </p:sp>
      <p:pic>
        <p:nvPicPr>
          <p:cNvPr id="110" name="Google Shape;11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00" y="3759200"/>
            <a:ext cx="7708902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Sentiment Analysis</a:t>
            </a:r>
            <a:endParaRPr sz="3000" b="1"/>
          </a:p>
        </p:txBody>
      </p:sp>
      <p:sp>
        <p:nvSpPr>
          <p:cNvPr id="116" name="Google Shape;116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8993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Sentiment labeling based on ratings:</a:t>
            </a:r>
            <a:endParaRPr/>
          </a:p>
          <a:p>
            <a:pPr marL="1257300" lvl="0" indent="1143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Positive: Rating &gt;= 4</a:t>
            </a:r>
            <a:endParaRPr/>
          </a:p>
          <a:p>
            <a:pPr marL="1257300" lvl="0" indent="1143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Neutral: Rating = 3</a:t>
            </a:r>
            <a:endParaRPr/>
          </a:p>
          <a:p>
            <a:pPr marL="1257300" lvl="0" indent="1143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Negative: Rating &lt;= 2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vectorization using TF-IDF.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Classification with Naive Bayes and SVM.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bcb803ff_0_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Open Sans"/>
                <a:ea typeface="Open Sans"/>
                <a:cs typeface="Open Sans"/>
                <a:sym typeface="Open Sans"/>
              </a:rPr>
              <a:t>Distribution of Ratings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g2d6bcb803ff_0_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3" name="Google Shape;123;g2d6bcb803ff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00200"/>
            <a:ext cx="8229599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2d6be8c33fb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520975"/>
            <a:ext cx="8229600" cy="59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Sentiment Analysis Results</a:t>
            </a:r>
            <a:endParaRPr sz="30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75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10000"/>
          </a:bodyPr>
          <a:lstStyle/>
          <a:p>
            <a:pPr marL="342900" lvl="0" indent="-2463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Sentiment distribution:</a:t>
            </a:r>
            <a:endParaRPr sz="2400"/>
          </a:p>
          <a:p>
            <a:pPr marL="457200" lvl="0" indent="4572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   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32,315</a:t>
            </a:r>
            <a:endParaRPr sz="240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	 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Neutral   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1,499</a:t>
            </a:r>
            <a:endParaRPr sz="2400"/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Negative 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812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Accuracy: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94%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Positive sentiment shows the best performance (F1-score = 0.97).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Neutral and negative sentiments are underperforming due to low recall.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35" name="Google Shape;13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9800" y="2560638"/>
            <a:ext cx="4407000" cy="22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Topic Modeling</a:t>
            </a:r>
            <a:endParaRPr sz="30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7"/>
          <p:cNvSpPr txBox="1">
            <a:spLocks noGrp="1"/>
          </p:cNvSpPr>
          <p:nvPr>
            <p:ph type="body" idx="1"/>
          </p:nvPr>
        </p:nvSpPr>
        <p:spPr>
          <a:xfrm>
            <a:off x="457200" y="1358900"/>
            <a:ext cx="7886700" cy="28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2692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Latent Dirichlet Allocation (LDA).</a:t>
            </a:r>
            <a:endParaRPr sz="2400"/>
          </a:p>
          <a:p>
            <a:pPr marL="342900" lvl="0" indent="-26924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Identified 5 key topics:</a:t>
            </a:r>
            <a:endParaRPr sz="2400"/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Amazon TV and Prime</a:t>
            </a:r>
            <a:endParaRPr sz="2400"/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2. Tablets and Accessories</a:t>
            </a:r>
            <a:endParaRPr sz="2400"/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3. Kindle and Reading</a:t>
            </a:r>
            <a:endParaRPr sz="2400"/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4. Alexa and Smart Devices</a:t>
            </a:r>
            <a:endParaRPr sz="2400"/>
          </a:p>
          <a:p>
            <a:pPr marL="342900" lvl="0" indent="0" algn="l" rtl="0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5. Children's Gadgets</a:t>
            </a:r>
            <a:endParaRPr sz="2400"/>
          </a:p>
        </p:txBody>
      </p:sp>
      <p:pic>
        <p:nvPicPr>
          <p:cNvPr id="142" name="Google Shape;14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600" y="4336100"/>
            <a:ext cx="8331201" cy="22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Key Insights</a:t>
            </a:r>
            <a:endParaRPr sz="30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Popular themes include affordable tablets and user-friendly devices.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Issues identified in product quality and functionality for specific items.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Visualizations</a:t>
            </a:r>
            <a:endParaRPr/>
          </a:p>
        </p:txBody>
      </p:sp>
      <p:sp>
        <p:nvSpPr>
          <p:cNvPr id="154" name="Google Shape;154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Sentiment distribution bar chart.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 cloud for frequent terms.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 proportions bar chart.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dd249a56a_0_245"/>
          <p:cNvSpPr txBox="1">
            <a:spLocks noGrp="1"/>
          </p:cNvSpPr>
          <p:nvPr>
            <p:ph type="title"/>
          </p:nvPr>
        </p:nvSpPr>
        <p:spPr>
          <a:xfrm>
            <a:off x="311700" y="421228"/>
            <a:ext cx="8520600" cy="6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latin typeface="Calibri"/>
                <a:ea typeface="Calibri"/>
                <a:cs typeface="Calibri"/>
                <a:sym typeface="Calibri"/>
              </a:rPr>
              <a:t>Sentiment distribution bar chart.</a:t>
            </a:r>
            <a:endParaRPr sz="3000" b="1"/>
          </a:p>
        </p:txBody>
      </p:sp>
      <p:pic>
        <p:nvPicPr>
          <p:cNvPr id="160" name="Google Shape;160;g31dd249a56a_0_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388" y="1831108"/>
            <a:ext cx="5610225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dd249a56a_0_241"/>
          <p:cNvSpPr txBox="1">
            <a:spLocks noGrp="1"/>
          </p:cNvSpPr>
          <p:nvPr>
            <p:ph type="title"/>
          </p:nvPr>
        </p:nvSpPr>
        <p:spPr>
          <a:xfrm>
            <a:off x="311700" y="421229"/>
            <a:ext cx="8520600" cy="6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000" b="1">
                <a:latin typeface="Calibri"/>
                <a:ea typeface="Calibri"/>
                <a:cs typeface="Calibri"/>
                <a:sym typeface="Calibri"/>
              </a:rPr>
              <a:t> Word cloud for frequent terms.</a:t>
            </a:r>
            <a:endParaRPr sz="3000" b="1"/>
          </a:p>
        </p:txBody>
      </p:sp>
      <p:pic>
        <p:nvPicPr>
          <p:cNvPr id="166" name="Google Shape;166;g31dd249a56a_0_2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2025025"/>
            <a:ext cx="8020049" cy="43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dd249a56a_0_237"/>
          <p:cNvSpPr txBox="1">
            <a:spLocks noGrp="1"/>
          </p:cNvSpPr>
          <p:nvPr>
            <p:ph type="title"/>
          </p:nvPr>
        </p:nvSpPr>
        <p:spPr>
          <a:xfrm>
            <a:off x="311700" y="421228"/>
            <a:ext cx="8520600" cy="7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 b="1">
                <a:latin typeface="Calibri"/>
                <a:ea typeface="Calibri"/>
                <a:cs typeface="Calibri"/>
                <a:sym typeface="Calibri"/>
              </a:rPr>
              <a:t>Topic proportions bar chart</a:t>
            </a:r>
            <a:endParaRPr b="1"/>
          </a:p>
        </p:txBody>
      </p:sp>
      <p:pic>
        <p:nvPicPr>
          <p:cNvPr id="172" name="Google Shape;172;g31dd249a56a_0_2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500" y="1642475"/>
            <a:ext cx="7141249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d6bcb803ff_0_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 b="1">
                <a:latin typeface="Calibri"/>
                <a:ea typeface="Calibri"/>
                <a:cs typeface="Calibri"/>
                <a:sym typeface="Calibri"/>
              </a:rPr>
              <a:t>Further Work  and lesson learned</a:t>
            </a:r>
            <a:endParaRPr sz="3000" b="1"/>
          </a:p>
        </p:txBody>
      </p:sp>
      <p:sp>
        <p:nvSpPr>
          <p:cNvPr id="178" name="Google Shape;178;g2d6bcb803ff_0_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640"/>
              </a:spcBef>
              <a:spcAft>
                <a:spcPts val="0"/>
              </a:spcAft>
              <a:buSzPts val="2400"/>
              <a:buChar char="➔"/>
            </a:pPr>
            <a:r>
              <a:rPr lang="en-US" sz="2400"/>
              <a:t>Need to address data imbalance by using different techniques.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US" sz="2400"/>
              <a:t>Need to apply different techniques ex : Deep learning models (</a:t>
            </a:r>
            <a:r>
              <a:rPr lang="en-US" sz="240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BERT</a:t>
            </a:r>
            <a:r>
              <a:rPr lang="en-US" sz="2400"/>
              <a:t>)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US" sz="2400"/>
              <a:t>Need to collect more diverse feedback data and recent data 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84" name="Google Shape;184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81000" algn="l" rtl="0">
              <a:spcBef>
                <a:spcPts val="64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Successfully analyzed customer feedback using sentiment analysis techniques.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81000" algn="l" rtl="0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Demonstrated high accuracy for the positive sentiment class, showcasing the effectiveness of the model for majority classes.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81000" algn="l" rtl="0">
              <a:spcBef>
                <a:spcPts val="1200"/>
              </a:spcBef>
              <a:spcAft>
                <a:spcPts val="1200"/>
              </a:spcAft>
              <a:buSzPts val="2400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Identified challenges in handling imbalanced datasets, particularly for neutral and negative sentiments.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1dbdd1e1a3_0_6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 </a:t>
            </a:r>
            <a:endParaRPr/>
          </a:p>
        </p:txBody>
      </p:sp>
      <p:sp>
        <p:nvSpPr>
          <p:cNvPr id="190" name="Google Shape;190;g31dbdd1e1a3_0_6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https://www.geeksforgeeks.org/what-is-sentiment-analysis/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https://www.ibm.com/topics/sentiment-analysis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https://www.kaggle.com/datasets/datafiniti/consumer-reviews-of-amazon-products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On-screen Show (4:3)</PresentationFormat>
  <Paragraphs>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Arial</vt:lpstr>
      <vt:lpstr>Economica</vt:lpstr>
      <vt:lpstr>Open Sans</vt:lpstr>
      <vt:lpstr>Luxe</vt:lpstr>
      <vt:lpstr>Customer Feedback Analysis for E-commerce</vt:lpstr>
      <vt:lpstr>Project Objective</vt:lpstr>
      <vt:lpstr>Statement of the problem : </vt:lpstr>
      <vt:lpstr>Why People Should Care</vt:lpstr>
      <vt:lpstr>Dataset Overview</vt:lpstr>
      <vt:lpstr>data file </vt:lpstr>
      <vt:lpstr>Data Preprocessing</vt:lpstr>
      <vt:lpstr>Sentiment Analysis</vt:lpstr>
      <vt:lpstr>Distribution of Ratings</vt:lpstr>
      <vt:lpstr>PowerPoint Presentation</vt:lpstr>
      <vt:lpstr>Sentiment Analysis Results</vt:lpstr>
      <vt:lpstr>Topic Modeling</vt:lpstr>
      <vt:lpstr>Key Insights</vt:lpstr>
      <vt:lpstr>Visualizations</vt:lpstr>
      <vt:lpstr>Sentiment distribution bar chart.</vt:lpstr>
      <vt:lpstr> Word cloud for frequent terms.</vt:lpstr>
      <vt:lpstr>Topic proportions bar chart</vt:lpstr>
      <vt:lpstr>Further Work  and lesson learned</vt:lpstr>
      <vt:lpstr>Conclusion</vt:lpstr>
      <vt:lpstr>Reference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Parth Maniar</cp:lastModifiedBy>
  <cp:revision>2</cp:revision>
  <dcterms:created xsi:type="dcterms:W3CDTF">2013-01-27T09:14:16Z</dcterms:created>
  <dcterms:modified xsi:type="dcterms:W3CDTF">2025-08-22T00:51:45Z</dcterms:modified>
</cp:coreProperties>
</file>